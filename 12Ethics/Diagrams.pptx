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0" y="1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6EACC-0508-4BE1-8BB8-C70061BE0B53}" type="datetimeFigureOut">
              <a:rPr lang="en-AU" smtClean="0"/>
              <a:t>6/04/2026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9B363-2E69-4C03-808D-9C92E6BE83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7257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6EACC-0508-4BE1-8BB8-C70061BE0B53}" type="datetimeFigureOut">
              <a:rPr lang="en-AU" smtClean="0"/>
              <a:t>6/04/2026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9B363-2E69-4C03-808D-9C92E6BE83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5050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6EACC-0508-4BE1-8BB8-C70061BE0B53}" type="datetimeFigureOut">
              <a:rPr lang="en-AU" smtClean="0"/>
              <a:t>6/04/2026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9B363-2E69-4C03-808D-9C92E6BE83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3662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6EACC-0508-4BE1-8BB8-C70061BE0B53}" type="datetimeFigureOut">
              <a:rPr lang="en-AU" smtClean="0"/>
              <a:t>6/04/2026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9B363-2E69-4C03-808D-9C92E6BE83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1437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6EACC-0508-4BE1-8BB8-C70061BE0B53}" type="datetimeFigureOut">
              <a:rPr lang="en-AU" smtClean="0"/>
              <a:t>6/04/2026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9B363-2E69-4C03-808D-9C92E6BE83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2181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6EACC-0508-4BE1-8BB8-C70061BE0B53}" type="datetimeFigureOut">
              <a:rPr lang="en-AU" smtClean="0"/>
              <a:t>6/04/2026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9B363-2E69-4C03-808D-9C92E6BE83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4801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6EACC-0508-4BE1-8BB8-C70061BE0B53}" type="datetimeFigureOut">
              <a:rPr lang="en-AU" smtClean="0"/>
              <a:t>6/04/2026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9B363-2E69-4C03-808D-9C92E6BE83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6296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6EACC-0508-4BE1-8BB8-C70061BE0B53}" type="datetimeFigureOut">
              <a:rPr lang="en-AU" smtClean="0"/>
              <a:t>6/04/2026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9B363-2E69-4C03-808D-9C92E6BE83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5527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6EACC-0508-4BE1-8BB8-C70061BE0B53}" type="datetimeFigureOut">
              <a:rPr lang="en-AU" smtClean="0"/>
              <a:t>6/04/2026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9B363-2E69-4C03-808D-9C92E6BE83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7104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6EACC-0508-4BE1-8BB8-C70061BE0B53}" type="datetimeFigureOut">
              <a:rPr lang="en-AU" smtClean="0"/>
              <a:t>6/04/2026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9B363-2E69-4C03-808D-9C92E6BE83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4748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6EACC-0508-4BE1-8BB8-C70061BE0B53}" type="datetimeFigureOut">
              <a:rPr lang="en-AU" smtClean="0"/>
              <a:t>6/04/2026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9B363-2E69-4C03-808D-9C92E6BE83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9757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86EACC-0508-4BE1-8BB8-C70061BE0B53}" type="datetimeFigureOut">
              <a:rPr lang="en-AU" smtClean="0"/>
              <a:t>6/04/2026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9B363-2E69-4C03-808D-9C92E6BE83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34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10380610" y="1357475"/>
            <a:ext cx="1577676" cy="1312436"/>
            <a:chOff x="5293354" y="1256970"/>
            <a:chExt cx="1577676" cy="1312436"/>
          </a:xfrm>
        </p:grpSpPr>
        <p:sp>
          <p:nvSpPr>
            <p:cNvPr id="22" name="Can 21"/>
            <p:cNvSpPr/>
            <p:nvPr/>
          </p:nvSpPr>
          <p:spPr>
            <a:xfrm rot="16200000">
              <a:off x="5556777" y="1255604"/>
              <a:ext cx="1050825" cy="1576779"/>
            </a:xfrm>
            <a:prstGeom prst="can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293354" y="1256970"/>
              <a:ext cx="1577676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AU" sz="1100" b="1" dirty="0" smtClean="0">
                  <a:effectLst/>
                  <a:latin typeface="+mj-lt"/>
                  <a:ea typeface="Calibri" panose="020F0502020204030204" pitchFamily="34" charset="0"/>
                </a:rPr>
                <a:t>Data Retention/ Deletion</a:t>
              </a:r>
              <a:endParaRPr lang="en-AU" sz="1100" b="1" dirty="0">
                <a:latin typeface="+mj-lt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469202" y="1766994"/>
              <a:ext cx="1401377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AU" sz="900" dirty="0" smtClean="0">
                  <a:latin typeface="+mj-lt"/>
                  <a:ea typeface="Calibri" panose="020F0502020204030204" pitchFamily="34" charset="0"/>
                </a:rPr>
                <a:t>Archiving/ Purging </a:t>
              </a:r>
              <a:endParaRPr lang="en-AU" sz="900" dirty="0">
                <a:latin typeface="+mj-lt"/>
                <a:ea typeface="Calibri" panose="020F0502020204030204" pitchFamily="34" charset="0"/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8938449" y="1357475"/>
            <a:ext cx="1576779" cy="1312436"/>
            <a:chOff x="5293800" y="1256970"/>
            <a:chExt cx="1576779" cy="1312436"/>
          </a:xfrm>
        </p:grpSpPr>
        <p:sp>
          <p:nvSpPr>
            <p:cNvPr id="27" name="Can 26"/>
            <p:cNvSpPr/>
            <p:nvPr/>
          </p:nvSpPr>
          <p:spPr>
            <a:xfrm rot="16200000">
              <a:off x="5556777" y="1255604"/>
              <a:ext cx="1050825" cy="1576779"/>
            </a:xfrm>
            <a:prstGeom prst="can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355869" y="1256970"/>
              <a:ext cx="1452642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AU" sz="1100" b="1" dirty="0">
                  <a:latin typeface="+mj-lt"/>
                </a:rPr>
                <a:t>Downstream </a:t>
              </a:r>
              <a:r>
                <a:rPr lang="en-AU" sz="1100" b="1" dirty="0" smtClean="0">
                  <a:latin typeface="+mj-lt"/>
                </a:rPr>
                <a:t>Decisions</a:t>
              </a:r>
              <a:endParaRPr lang="en-AU" sz="1100" b="1" dirty="0">
                <a:latin typeface="+mj-lt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469202" y="1766994"/>
              <a:ext cx="1401377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AU" sz="900" dirty="0">
                  <a:ea typeface="Calibri" panose="020F0502020204030204" pitchFamily="34" charset="0"/>
                </a:rPr>
                <a:t>AEMO Grid Ops</a:t>
              </a:r>
            </a:p>
            <a:p>
              <a:pPr marL="171450" indent="-171450"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AU" sz="900" dirty="0">
                  <a:ea typeface="Calibri" panose="020F0502020204030204" pitchFamily="34" charset="0"/>
                </a:rPr>
                <a:t>Energy Pricing</a:t>
              </a:r>
            </a:p>
            <a:p>
              <a:pPr marL="171450" indent="-171450"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AU" sz="900" dirty="0">
                  <a:ea typeface="Calibri" panose="020F0502020204030204" pitchFamily="34" charset="0"/>
                </a:rPr>
                <a:t>Policy Decisions </a:t>
              </a:r>
              <a:endParaRPr lang="en-AU" sz="900" dirty="0">
                <a:ea typeface="Calibri" panose="020F0502020204030204" pitchFamily="34" charset="0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7516457" y="1357475"/>
            <a:ext cx="1576779" cy="1312436"/>
            <a:chOff x="5293800" y="1256970"/>
            <a:chExt cx="1576779" cy="1312436"/>
          </a:xfrm>
        </p:grpSpPr>
        <p:sp>
          <p:nvSpPr>
            <p:cNvPr id="31" name="Can 30"/>
            <p:cNvSpPr/>
            <p:nvPr/>
          </p:nvSpPr>
          <p:spPr>
            <a:xfrm rot="16200000">
              <a:off x="5556777" y="1255604"/>
              <a:ext cx="1050825" cy="1576779"/>
            </a:xfrm>
            <a:prstGeom prst="can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490523" y="1256970"/>
              <a:ext cx="1183337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AU" sz="1100" b="1" dirty="0" smtClean="0">
                  <a:effectLst/>
                  <a:latin typeface="+mj-lt"/>
                  <a:ea typeface="Calibri" panose="020F0502020204030204" pitchFamily="34" charset="0"/>
                </a:rPr>
                <a:t>Prediction Output</a:t>
              </a:r>
              <a:endParaRPr lang="en-AU" sz="1100" b="1" dirty="0">
                <a:latin typeface="+mj-lt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5469202" y="1766994"/>
              <a:ext cx="140137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AU" sz="900" dirty="0" smtClean="0">
                  <a:latin typeface="+mj-lt"/>
                  <a:ea typeface="Calibri" panose="020F0502020204030204" pitchFamily="34" charset="0"/>
                </a:rPr>
                <a:t>Demand Forecast (30min)</a:t>
              </a:r>
              <a:endParaRPr lang="en-AU" sz="900" dirty="0">
                <a:latin typeface="+mj-lt"/>
                <a:ea typeface="Calibri" panose="020F0502020204030204" pitchFamily="34" charset="0"/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6073850" y="1357475"/>
            <a:ext cx="1576779" cy="1312436"/>
            <a:chOff x="5293800" y="1256970"/>
            <a:chExt cx="1576779" cy="1312436"/>
          </a:xfrm>
        </p:grpSpPr>
        <p:sp>
          <p:nvSpPr>
            <p:cNvPr id="35" name="Can 34"/>
            <p:cNvSpPr/>
            <p:nvPr/>
          </p:nvSpPr>
          <p:spPr>
            <a:xfrm rot="16200000">
              <a:off x="5556777" y="1255604"/>
              <a:ext cx="1050825" cy="1576779"/>
            </a:xfrm>
            <a:prstGeom prst="can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5568268" y="1256970"/>
              <a:ext cx="1027846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AU" sz="1100" b="1" dirty="0" smtClean="0">
                  <a:effectLst/>
                  <a:latin typeface="+mj-lt"/>
                  <a:ea typeface="Calibri" panose="020F0502020204030204" pitchFamily="34" charset="0"/>
                </a:rPr>
                <a:t>Model Training</a:t>
              </a:r>
              <a:endParaRPr lang="en-AU" sz="1100" b="1" dirty="0">
                <a:latin typeface="+mj-lt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469202" y="1766994"/>
              <a:ext cx="140137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AU" sz="900" dirty="0" smtClean="0">
                  <a:latin typeface="+mj-lt"/>
                  <a:ea typeface="Calibri" panose="020F0502020204030204" pitchFamily="34" charset="0"/>
                </a:rPr>
                <a:t>LSTM</a:t>
              </a:r>
            </a:p>
            <a:p>
              <a:pPr marL="171450" indent="-171450"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900" dirty="0" smtClean="0">
                  <a:latin typeface="+mj-lt"/>
                  <a:ea typeface="Calibri" panose="020F0502020204030204" pitchFamily="34" charset="0"/>
                </a:rPr>
                <a:t>Transformer Models</a:t>
              </a:r>
              <a:endParaRPr lang="en-AU" sz="900" dirty="0">
                <a:latin typeface="+mj-lt"/>
                <a:ea typeface="Calibri" panose="020F0502020204030204" pitchFamily="3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4651857" y="1357475"/>
            <a:ext cx="1576779" cy="1312436"/>
            <a:chOff x="5293800" y="1256970"/>
            <a:chExt cx="1576779" cy="1312436"/>
          </a:xfrm>
        </p:grpSpPr>
        <p:sp>
          <p:nvSpPr>
            <p:cNvPr id="39" name="Can 38"/>
            <p:cNvSpPr/>
            <p:nvPr/>
          </p:nvSpPr>
          <p:spPr>
            <a:xfrm rot="16200000">
              <a:off x="5556777" y="1255604"/>
              <a:ext cx="1050825" cy="1576779"/>
            </a:xfrm>
            <a:prstGeom prst="can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5609946" y="1256970"/>
              <a:ext cx="944489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AU" sz="1100" b="1" dirty="0" smtClean="0">
                  <a:effectLst/>
                  <a:latin typeface="+mj-lt"/>
                  <a:ea typeface="Calibri" panose="020F0502020204030204" pitchFamily="34" charset="0"/>
                </a:rPr>
                <a:t>Storage Layer</a:t>
              </a:r>
              <a:endParaRPr lang="en-AU" sz="1100" b="1" dirty="0">
                <a:latin typeface="+mj-lt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5469202" y="1766994"/>
              <a:ext cx="140137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AU" sz="900" dirty="0" smtClean="0">
                  <a:latin typeface="+mj-lt"/>
                  <a:ea typeface="Calibri" panose="020F0502020204030204" pitchFamily="34" charset="0"/>
                </a:rPr>
                <a:t>Data Warehouse</a:t>
              </a:r>
              <a:endParaRPr lang="en-AU" sz="900" dirty="0">
                <a:latin typeface="+mj-lt"/>
                <a:ea typeface="Calibri" panose="020F0502020204030204" pitchFamily="34" charset="0"/>
              </a:endParaRPr>
            </a:p>
            <a:p>
              <a:pPr marL="171450" indent="-171450"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AU" sz="900" dirty="0" smtClean="0">
                  <a:latin typeface="+mj-lt"/>
                  <a:ea typeface="Calibri" panose="020F0502020204030204" pitchFamily="34" charset="0"/>
                </a:rPr>
                <a:t>Cloud Database</a:t>
              </a:r>
              <a:endParaRPr lang="en-AU" sz="900" dirty="0">
                <a:latin typeface="+mj-lt"/>
                <a:ea typeface="Calibri" panose="020F0502020204030204" pitchFamily="34" charset="0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209250" y="1357475"/>
            <a:ext cx="1576779" cy="1312436"/>
            <a:chOff x="5293800" y="1256970"/>
            <a:chExt cx="1576779" cy="1312436"/>
          </a:xfrm>
        </p:grpSpPr>
        <p:sp>
          <p:nvSpPr>
            <p:cNvPr id="43" name="Can 42"/>
            <p:cNvSpPr/>
            <p:nvPr/>
          </p:nvSpPr>
          <p:spPr>
            <a:xfrm rot="16200000">
              <a:off x="5556777" y="1255604"/>
              <a:ext cx="1050825" cy="1576779"/>
            </a:xfrm>
            <a:prstGeom prst="can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5527392" y="1256970"/>
              <a:ext cx="1109599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AU" sz="1100" b="1" dirty="0" smtClean="0">
                  <a:effectLst/>
                  <a:latin typeface="+mj-lt"/>
                  <a:ea typeface="Calibri" panose="020F0502020204030204" pitchFamily="34" charset="0"/>
                </a:rPr>
                <a:t>Processing Layer</a:t>
              </a:r>
              <a:endParaRPr lang="en-AU" sz="1100" b="1" dirty="0">
                <a:latin typeface="+mj-lt"/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469202" y="1766994"/>
              <a:ext cx="1401377" cy="7848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AU" sz="900" dirty="0" smtClean="0">
                  <a:latin typeface="+mj-lt"/>
                  <a:ea typeface="Calibri" panose="020F0502020204030204" pitchFamily="34" charset="0"/>
                </a:rPr>
                <a:t>Data Cleaning</a:t>
              </a:r>
            </a:p>
            <a:p>
              <a:pPr marL="171450" indent="-171450"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900" dirty="0" smtClean="0">
                  <a:latin typeface="+mj-lt"/>
                  <a:ea typeface="Calibri" panose="020F0502020204030204" pitchFamily="34" charset="0"/>
                </a:rPr>
                <a:t>Validation</a:t>
              </a:r>
            </a:p>
            <a:p>
              <a:pPr marL="171450" indent="-171450"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900" dirty="0" smtClean="0">
                  <a:latin typeface="+mj-lt"/>
                  <a:ea typeface="Calibri" panose="020F0502020204030204" pitchFamily="34" charset="0"/>
                </a:rPr>
                <a:t>EDA</a:t>
              </a:r>
            </a:p>
            <a:p>
              <a:pPr marL="171450" indent="-171450"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900" dirty="0" smtClean="0">
                  <a:latin typeface="+mj-lt"/>
                  <a:ea typeface="Calibri" panose="020F0502020204030204" pitchFamily="34" charset="0"/>
                </a:rPr>
                <a:t>Feature Engineering</a:t>
              </a:r>
            </a:p>
            <a:p>
              <a:pPr marL="171450" indent="-171450"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900" dirty="0" smtClean="0">
                  <a:latin typeface="+mj-lt"/>
                  <a:ea typeface="Calibri" panose="020F0502020204030204" pitchFamily="34" charset="0"/>
                </a:rPr>
                <a:t>Feature Extraction</a:t>
              </a:r>
              <a:endParaRPr lang="en-AU" sz="900" dirty="0">
                <a:latin typeface="+mj-lt"/>
                <a:ea typeface="Calibri" panose="020F0502020204030204" pitchFamily="34" charset="0"/>
              </a:endParaRP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1787258" y="1357475"/>
            <a:ext cx="1576779" cy="1312436"/>
            <a:chOff x="5293800" y="1256970"/>
            <a:chExt cx="1576779" cy="1312436"/>
          </a:xfrm>
        </p:grpSpPr>
        <p:sp>
          <p:nvSpPr>
            <p:cNvPr id="47" name="Can 46"/>
            <p:cNvSpPr/>
            <p:nvPr/>
          </p:nvSpPr>
          <p:spPr>
            <a:xfrm rot="16200000">
              <a:off x="5556777" y="1255604"/>
              <a:ext cx="1050825" cy="1576779"/>
            </a:xfrm>
            <a:prstGeom prst="can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535406" y="1256970"/>
              <a:ext cx="1093569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AU" sz="1100" b="1" dirty="0" smtClean="0">
                  <a:effectLst/>
                  <a:latin typeface="+mj-lt"/>
                  <a:ea typeface="Calibri" panose="020F0502020204030204" pitchFamily="34" charset="0"/>
                </a:rPr>
                <a:t>Data Integration</a:t>
              </a:r>
              <a:endParaRPr lang="en-AU" sz="1100" b="1" dirty="0">
                <a:latin typeface="+mj-lt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469202" y="1766994"/>
              <a:ext cx="140137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AU" sz="900" dirty="0" smtClean="0">
                  <a:latin typeface="+mj-lt"/>
                  <a:ea typeface="Calibri" panose="020F0502020204030204" pitchFamily="34" charset="0"/>
                </a:rPr>
                <a:t>API Calls</a:t>
              </a:r>
            </a:p>
            <a:p>
              <a:pPr marL="171450" indent="-171450"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900" dirty="0" smtClean="0">
                  <a:latin typeface="+mj-lt"/>
                  <a:ea typeface="Calibri" panose="020F0502020204030204" pitchFamily="34" charset="0"/>
                </a:rPr>
                <a:t>Data Feeds</a:t>
              </a:r>
              <a:endParaRPr lang="en-AU" sz="900" dirty="0">
                <a:latin typeface="+mj-lt"/>
                <a:ea typeface="Calibri" panose="020F0502020204030204" pitchFamily="34" charset="0"/>
              </a:endParaRP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344651" y="1357475"/>
            <a:ext cx="1576779" cy="1312436"/>
            <a:chOff x="5293800" y="1256970"/>
            <a:chExt cx="1576779" cy="1312436"/>
          </a:xfrm>
        </p:grpSpPr>
        <p:sp>
          <p:nvSpPr>
            <p:cNvPr id="51" name="Can 50"/>
            <p:cNvSpPr/>
            <p:nvPr/>
          </p:nvSpPr>
          <p:spPr>
            <a:xfrm rot="16200000">
              <a:off x="5556777" y="1255604"/>
              <a:ext cx="1050825" cy="1576779"/>
            </a:xfrm>
            <a:prstGeom prst="can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335029" y="1256970"/>
              <a:ext cx="1494320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AU" sz="1100" b="1" dirty="0" smtClean="0">
                  <a:effectLst/>
                  <a:latin typeface="+mj-lt"/>
                  <a:ea typeface="Calibri" panose="020F0502020204030204" pitchFamily="34" charset="0"/>
                </a:rPr>
                <a:t>Upstream Data Source</a:t>
              </a:r>
              <a:endParaRPr lang="en-AU" sz="1100" b="1" dirty="0">
                <a:latin typeface="+mj-lt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5469202" y="1766994"/>
              <a:ext cx="1401377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AU" sz="900" dirty="0">
                  <a:latin typeface="+mj-lt"/>
                  <a:ea typeface="Calibri" panose="020F0502020204030204" pitchFamily="34" charset="0"/>
                </a:rPr>
                <a:t>AEMO Demand Data</a:t>
              </a:r>
            </a:p>
            <a:p>
              <a:pPr marL="171450" indent="-171450"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AU" sz="900" dirty="0">
                  <a:latin typeface="+mj-lt"/>
                  <a:ea typeface="Calibri" panose="020F0502020204030204" pitchFamily="34" charset="0"/>
                </a:rPr>
                <a:t>Weather Data (Temp)</a:t>
              </a:r>
            </a:p>
            <a:p>
              <a:pPr marL="171450" indent="-171450"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AU" sz="900" dirty="0">
                  <a:latin typeface="+mj-lt"/>
                  <a:ea typeface="Calibri" panose="020F0502020204030204" pitchFamily="34" charset="0"/>
                </a:rPr>
                <a:t>Financial </a:t>
              </a:r>
              <a:r>
                <a:rPr lang="en-AU" sz="900" dirty="0" smtClean="0">
                  <a:latin typeface="+mj-lt"/>
                  <a:ea typeface="Calibri" panose="020F0502020204030204" pitchFamily="34" charset="0"/>
                </a:rPr>
                <a:t>(</a:t>
              </a:r>
              <a:r>
                <a:rPr lang="en-AU" sz="900" dirty="0">
                  <a:latin typeface="+mj-lt"/>
                  <a:ea typeface="Calibri" panose="020F0502020204030204" pitchFamily="34" charset="0"/>
                </a:rPr>
                <a:t>ASX, IR) </a:t>
              </a:r>
            </a:p>
          </p:txBody>
        </p:sp>
      </p:grpSp>
      <p:sp>
        <p:nvSpPr>
          <p:cNvPr id="54" name="Down Arrow 53"/>
          <p:cNvSpPr/>
          <p:nvPr/>
        </p:nvSpPr>
        <p:spPr>
          <a:xfrm rot="16200000">
            <a:off x="5914229" y="-4609189"/>
            <a:ext cx="515257" cy="11571956"/>
          </a:xfrm>
          <a:prstGeom prst="downArrow">
            <a:avLst/>
          </a:prstGeom>
          <a:gradFill flip="none" rotWithShape="1">
            <a:gsLst>
              <a:gs pos="44000">
                <a:schemeClr val="accent1">
                  <a:tint val="66000"/>
                  <a:satMod val="160000"/>
                </a:schemeClr>
              </a:gs>
              <a:gs pos="66000">
                <a:schemeClr val="accent1">
                  <a:tint val="44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7798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67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4</cp:revision>
  <dcterms:created xsi:type="dcterms:W3CDTF">2026-04-06T11:47:26Z</dcterms:created>
  <dcterms:modified xsi:type="dcterms:W3CDTF">2026-04-06T12:23:02Z</dcterms:modified>
</cp:coreProperties>
</file>